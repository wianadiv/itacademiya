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Funnel Sans" pitchFamily="2" charset="0"/>
      <p:regular r:id="rId16"/>
    </p:embeddedFont>
    <p:embeddedFont>
      <p:font typeface="Mona Sans SemiBold" pitchFamily="2" charset="0"/>
      <p:regular r:id="rId17"/>
      <p:bold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37" d="100"/>
          <a:sy n="137" d="100"/>
        </p:scale>
        <p:origin x="92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01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1812" y="1838176"/>
            <a:ext cx="6744266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Plant Monitor — автоматический мониторинг роста растений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844296" y="2724150"/>
            <a:ext cx="2619221" cy="167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Проект </a:t>
            </a: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выполнили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Жамбалова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Диана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Яковлева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Светлана 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Яшина </a:t>
            </a: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Ева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Руководитель проекта: </a:t>
            </a:r>
            <a:endParaRPr lang="ru-RU" sz="1100" dirty="0">
              <a:solidFill>
                <a:srgbClr val="52586B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Кононенко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Роман</a:t>
            </a:r>
            <a:r>
              <a:rPr lang="ru-RU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Владимирович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4">
            <a:extLst>
              <a:ext uri="{FF2B5EF4-FFF2-40B4-BE49-F238E27FC236}">
                <a16:creationId xmlns:a16="http://schemas.microsoft.com/office/drawing/2014/main" id="{4B77127E-4FF2-B24A-E77A-1C7F3362DEDC}"/>
              </a:ext>
            </a:extLst>
          </p:cNvPr>
          <p:cNvSpPr/>
          <p:nvPr/>
        </p:nvSpPr>
        <p:spPr>
          <a:xfrm>
            <a:off x="6357342" y="1287654"/>
            <a:ext cx="2445836" cy="2270193"/>
          </a:xfrm>
          <a:prstGeom prst="roundRect">
            <a:avLst>
              <a:gd name="adj" fmla="val 3054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496119" y="715938"/>
            <a:ext cx="382845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Актуальность проблемы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96119" y="1282898"/>
            <a:ext cx="2471525" cy="2274949"/>
          </a:xfrm>
          <a:prstGeom prst="roundRect">
            <a:avLst>
              <a:gd name="adj" fmla="val 3054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429420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Ограничения ручных измерений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2640" y="1957388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Трудоёмко, неточная масштабируемость, отсутствует динамика в реальном времени.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22212" y="1282898"/>
            <a:ext cx="2445836" cy="2274949"/>
          </a:xfrm>
          <a:prstGeom prst="roundRect">
            <a:avLst>
              <a:gd name="adj" fmla="val 3054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86617" y="1440795"/>
            <a:ext cx="199749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Недоступность </a:t>
            </a:r>
            <a:r>
              <a:rPr lang="en-US" sz="1600" dirty="0" err="1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промышленных</a:t>
            </a: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</a:t>
            </a:r>
            <a:r>
              <a:rPr lang="en-US" sz="1600" dirty="0" err="1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решений</a:t>
            </a:r>
            <a:endParaRPr lang="ru-RU" sz="1600" dirty="0">
              <a:solidFill>
                <a:srgbClr val="52586B"/>
              </a:solidFill>
              <a:latin typeface="Mona Sans SemiBold" pitchFamily="34" charset="0"/>
              <a:ea typeface="Mona Sans SemiBold" pitchFamily="34" charset="-122"/>
              <a:cs typeface="Mona Sans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86617" y="2135054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Дорогие и сложные в настройке системы недоступны для многих пользователей.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08863" y="1429420"/>
            <a:ext cx="19924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Наша цель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08864" y="1755172"/>
            <a:ext cx="1992495" cy="1395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Создать недорогой, автономный и точный мониторинг — «сделать рутину за человека».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99892" y="187709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Аппаратная основа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2373213"/>
            <a:ext cx="47526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ESP32-CAM — компактный микроконтроллер с камерой и Wi‑Fi. Полная автономность: по таймеру делает снимок и отправляет фото на сервер. Простая и дешевая сборка для массового использования.</a:t>
            </a:r>
            <a:endParaRPr lang="en-US" sz="1100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4AD4D50-A149-6403-6CC5-D14ED5B921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42930" y="2038850"/>
            <a:ext cx="1029477" cy="102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89C6076-476C-DE0A-FFCB-061BC3894A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9630F5-2B87-F8BB-45FE-598C9D383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55" y="732390"/>
            <a:ext cx="2838455" cy="3678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834604"/>
            <a:ext cx="5170066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Сервер и обработка изображений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40156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Сервер на Python (Flask) принимает снимки и </a:t>
            </a: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запускает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CV-</a:t>
            </a: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пайплайн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1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на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OpenCV. Основной шаг — поиск калибровочного объекта (желтый карандаш) в HSV-пространстве для вычисления масштаба.</a:t>
            </a:r>
            <a:endParaRPr lang="en-US" sz="1100" dirty="0"/>
          </a:p>
        </p:txBody>
      </p:sp>
      <p:pic>
        <p:nvPicPr>
          <p:cNvPr id="2050" name="Picture 2" descr="OpenCV — Википедия">
            <a:extLst>
              <a:ext uri="{FF2B5EF4-FFF2-40B4-BE49-F238E27FC236}">
                <a16:creationId xmlns:a16="http://schemas.microsoft.com/office/drawing/2014/main" id="{980212B9-39BF-9A39-E899-27E1313BC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35" y="483095"/>
            <a:ext cx="2576704" cy="341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79315" y="621343"/>
            <a:ext cx="3785369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Калибровка и измерение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2679315" y="1104067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2679315" y="1314584"/>
            <a:ext cx="3934271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6" name="Text 3"/>
          <p:cNvSpPr/>
          <p:nvPr/>
        </p:nvSpPr>
        <p:spPr>
          <a:xfrm>
            <a:off x="2679315" y="142017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1. Поиск карандаша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79315" y="1760027"/>
            <a:ext cx="39342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Определение по жёлтой маске в HSV → измерение длины в пикселях.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79315" y="2412266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315" y="2622783"/>
            <a:ext cx="3934271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7"/>
          <p:cNvSpPr/>
          <p:nvPr/>
        </p:nvSpPr>
        <p:spPr>
          <a:xfrm>
            <a:off x="2679315" y="2728377"/>
            <a:ext cx="2052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2. Вычисление масштаба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79315" y="3068226"/>
            <a:ext cx="39342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Известная длина карандаша — 16 см → пиксели→см.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679315" y="3509352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79315" y="3719870"/>
            <a:ext cx="3934271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1"/>
          <p:cNvSpPr/>
          <p:nvPr/>
        </p:nvSpPr>
        <p:spPr>
          <a:xfrm>
            <a:off x="2679315" y="3825463"/>
            <a:ext cx="190217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3. Измерение растения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79315" y="4165312"/>
            <a:ext cx="39342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Выделение зелёных областей, очистка шума, измерение высоты контура в пикселях → перевод в см.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03025" y="590204"/>
            <a:ext cx="3067396" cy="1159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 err="1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Веб‑интерфейс</a:t>
            </a:r>
            <a:endParaRPr lang="ru-RU" sz="2800" dirty="0">
              <a:solidFill>
                <a:srgbClr val="373B48"/>
              </a:solidFill>
              <a:latin typeface="Mona Sans SemiBold" pitchFamily="34" charset="0"/>
              <a:ea typeface="Mona Sans SemiBold" pitchFamily="34" charset="-122"/>
              <a:cs typeface="Mona Sans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и логика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503025" y="1877095"/>
            <a:ext cx="3067396" cy="2387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Лёгкий стек: HTML/CSS/Vanilla JS. Панель не требует установки — доступ из браузера. Обновление данных </a:t>
            </a:r>
            <a:r>
              <a:rPr lang="en-US" sz="16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каждые</a:t>
            </a: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 минут</a:t>
            </a: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текущая высота, статус калибровки, последнее изображение и история измерений.</a:t>
            </a:r>
            <a:endParaRPr lang="en-US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BBA6-031E-08FC-4DC2-A181A0DB9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4" y="1169760"/>
            <a:ext cx="5164470" cy="26417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6861" y="654354"/>
            <a:ext cx="418415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График роста и результаты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861" y="1221314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8400" y="12213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Реальное время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28400" y="1527826"/>
            <a:ext cx="41912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Chart.js строит график: время по оси X, высота (см) по оси Y. Каждая точка отображает точное значение и метку времени при наведении.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61" y="249178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8400" y="2491786"/>
            <a:ext cx="18445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Производительность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28400" y="2798297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Время обработки кадра на сервере ≤ 300 мс при стабильном освещении; точность ≈ ±0.5 см.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861" y="353544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8400" y="35354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Экспорт данных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8400" y="3841954"/>
            <a:ext cx="41912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Историю можно выгрузить в CSV для дальнейшего анализа. Система готова к масштабированию: несколько камер, датчики влажности/температуры, уведомления.</a:t>
            </a:r>
            <a:endParaRPr lang="en-US" sz="11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5B105AB-0D0E-B6C5-24C0-FED36CD16E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6803" y="2812122"/>
            <a:ext cx="3850336" cy="166809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6D2D79B-2D85-4DA3-31AB-897004586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6801" y="934419"/>
            <a:ext cx="3850337" cy="1668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4663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 err="1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Вывод</a:t>
            </a:r>
            <a:r>
              <a:rPr lang="ru-RU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ы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122218"/>
            <a:ext cx="5331103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457200" indent="-45720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Доказана возможность точных измерений бюджетными средствами — система обеспечивает точность ±0.5 см, используя доступную платформу </a:t>
            </a:r>
            <a:r>
              <a:rPr lang="en-US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ESP32-CAM </a:t>
            </a: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 открытые библиотеки компьютерного зрения.</a:t>
            </a:r>
          </a:p>
          <a:p>
            <a:pPr marL="457200" indent="-45720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Реализована автоматическая калибровка по эталону — использование объекта известной длины позволяет системе адаптироваться к изменению масштаба кадра без ручной настройки.</a:t>
            </a:r>
          </a:p>
          <a:p>
            <a:pPr marL="457200" indent="-45720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Создан интуитивно понятный веб-интерфейс — все данные отображаются в реальном времени, график роста строится динамически, интерфейс работает на любых устройствах без установки дополнительного ПО.</a:t>
            </a:r>
          </a:p>
          <a:p>
            <a:pPr marL="457200" indent="-45720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Обеспечена полная автономность работы — от съёмки до визуализации данных система функционирует без участия человека, требуя минимального обслуживания.</a:t>
            </a:r>
          </a:p>
          <a:p>
            <a:pPr marL="457200" indent="-45720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Заложена модульная архитектура — каждый компонент системы независим, что позволяет легко масштабировать проект: добавлять новые камеры, датчики или интегрировать облачные сервисы.</a:t>
            </a:r>
          </a:p>
          <a:p>
            <a:pPr marL="457200" indent="-45720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Проект имеет высокую образовательную ценность — наглядно демонстрирует полный цикл разработки </a:t>
            </a:r>
            <a:r>
              <a:rPr lang="en-US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IoT-</a:t>
            </a: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решения: от прошивки микроконтроллера до веб-визуализации данных.</a:t>
            </a:r>
          </a:p>
          <a:p>
            <a:pPr marL="457200" indent="-45720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Система готова к практическому внедрению — может использоваться в учебных лабораториях, научных исследованиях и пилотных </a:t>
            </a:r>
            <a:r>
              <a:rPr lang="ru-RU" sz="40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агротех</a:t>
            </a:r>
            <a:r>
              <a:rPr lang="ru-RU" sz="4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-проектах.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92991456-3430-9B8C-7E38-061811DCDF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A90D48-83ED-306B-3623-0A9933F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728" y="1156854"/>
            <a:ext cx="2864543" cy="2829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E9A3D9-6592-BAF0-0D4F-C5727AB983BF}"/>
              </a:ext>
            </a:extLst>
          </p:cNvPr>
          <p:cNvSpPr txBox="1"/>
          <p:nvPr/>
        </p:nvSpPr>
        <p:spPr>
          <a:xfrm>
            <a:off x="1520888" y="531845"/>
            <a:ext cx="6102221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Наш сайт с мониторингом роста растений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4671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8572</TotalTime>
  <Words>490</Words>
  <Application>Microsoft Macintosh PowerPoint</Application>
  <PresentationFormat>Экран (16:9)</PresentationFormat>
  <Paragraphs>55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Funnel Sans</vt:lpstr>
      <vt:lpstr>Calibri</vt:lpstr>
      <vt:lpstr>Mona Sans SemiBold</vt:lpstr>
      <vt:lpstr>Mona Sans Light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Microsoft Office User</cp:lastModifiedBy>
  <cp:revision>5</cp:revision>
  <dcterms:created xsi:type="dcterms:W3CDTF">2026-05-29T07:21:04Z</dcterms:created>
  <dcterms:modified xsi:type="dcterms:W3CDTF">2026-06-04T06:16:28Z</dcterms:modified>
</cp:coreProperties>
</file>